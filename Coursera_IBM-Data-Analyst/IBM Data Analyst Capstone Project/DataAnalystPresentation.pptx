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857375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3"/>
    <a:srgbClr val="007D79"/>
    <a:srgbClr val="D02670"/>
    <a:srgbClr val="231F20"/>
    <a:srgbClr val="33B1FF"/>
    <a:srgbClr val="262626"/>
    <a:srgbClr val="525252"/>
    <a:srgbClr val="BE95FF"/>
    <a:srgbClr val="FFFFFF"/>
    <a:srgbClr val="C1C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3" autoAdjust="0"/>
    <p:restoredTop sz="91480" autoAdjust="0"/>
  </p:normalViewPr>
  <p:slideViewPr>
    <p:cSldViewPr snapToGrid="0">
      <p:cViewPr varScale="1">
        <p:scale>
          <a:sx n="79" d="100"/>
          <a:sy n="79" d="100"/>
        </p:scale>
        <p:origin x="36" y="436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6.png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Relationship Id="rId14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customXml" Target="../ink/ink7.xml"/><Relationship Id="rId3" Type="http://schemas.openxmlformats.org/officeDocument/2006/relationships/image" Target="../media/image9.png"/><Relationship Id="rId7" Type="http://schemas.openxmlformats.org/officeDocument/2006/relationships/image" Target="../media/image100.png"/><Relationship Id="rId12" Type="http://schemas.openxmlformats.org/officeDocument/2006/relationships/customXml" Target="../ink/ink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5.xml"/><Relationship Id="rId5" Type="http://schemas.openxmlformats.org/officeDocument/2006/relationships/image" Target="../media/image10.png"/><Relationship Id="rId15" Type="http://schemas.openxmlformats.org/officeDocument/2006/relationships/customXml" Target="../ink/ink9.xml"/><Relationship Id="rId10" Type="http://schemas.openxmlformats.org/officeDocument/2006/relationships/image" Target="../media/image11.png"/><Relationship Id="rId4" Type="http://schemas.openxmlformats.org/officeDocument/2006/relationships/customXml" Target="../ink/ink1.xml"/><Relationship Id="rId9" Type="http://schemas.openxmlformats.org/officeDocument/2006/relationships/customXml" Target="../ink/ink4.xml"/><Relationship Id="rId14" Type="http://schemas.openxmlformats.org/officeDocument/2006/relationships/customXml" Target="../ink/ink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24427" y="1168401"/>
            <a:ext cx="10964254" cy="2481316"/>
          </a:xfrm>
          <a:noFill/>
        </p:spPr>
        <p:txBody>
          <a:bodyPr>
            <a:norm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 Pulse of Innovation: </a:t>
            </a:r>
            <a:b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Current and Future Technology Trends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228" y="5202238"/>
            <a:ext cx="9135454" cy="1655762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Jyothi Kiran Gowdar</a:t>
            </a:r>
          </a:p>
          <a:p>
            <a:pPr algn="l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n-US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September 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186" y="781488"/>
            <a:ext cx="3931284" cy="4351338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Executive Summary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Visualization – Charts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Findings &amp; Implications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Appendix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921648" y="966692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31648" y="78669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285075" y="1569855"/>
            <a:ext cx="7068725" cy="4721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Conducted a comprehensive analysis of developer survey data to understand current and future technology trends.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Focused on key areas: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languages, databases, and platforms.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cleaning and preprocessing were performed using Python in 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Notebook to ensure accuracy.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Visualized insights through IBM Cognos Analytics dashboards for easier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interpretation.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Identified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technologies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used by developers: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Languages: JavaScript, HTML/CSS, SQL, and others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Databases: MySQL, Microsoft SQL Server, PostgreSQL, and others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Platforms: Linux, Windows, Docker, and others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Discovered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trends in developer preferences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emerging technologies that they are eager to learn.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Extracted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demographic insights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understand adoption patterns across different developer groups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94" y="2302762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Purpose: 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To explore current and future tech trends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using survey data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Audience: 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Tech recruiters, managers, educators, or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analysts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Value: 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Helps inform hiring, curriculum development,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or product decisions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823846F-C32E-BA5B-41AE-FAD2772CD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987988-243D-16D2-C7F8-272A2FED2B99}"/>
              </a:ext>
            </a:extLst>
          </p:cNvPr>
          <p:cNvSpPr txBox="1"/>
          <p:nvPr/>
        </p:nvSpPr>
        <p:spPr>
          <a:xfrm>
            <a:off x="3277274" y="1577947"/>
            <a:ext cx="8520914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b="1" dirty="0">
                <a:latin typeface="Arial" panose="020B0604020202020204" pitchFamily="34" charset="0"/>
                <a:cs typeface="Arial" panose="020B0604020202020204" pitchFamily="34" charset="0"/>
              </a:rPr>
              <a:t>Dataset: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 survey_data_updated.csv from the </a:t>
            </a:r>
            <a:r>
              <a:rPr lang="en-CA" sz="1600" b="1" dirty="0">
                <a:latin typeface="Arial" panose="020B0604020202020204" pitchFamily="34" charset="0"/>
                <a:cs typeface="Arial" panose="020B0604020202020204" pitchFamily="34" charset="0"/>
              </a:rPr>
              <a:t>Stack Overflow Developer Survey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CA" sz="1600" b="1" dirty="0">
                <a:latin typeface="Arial" panose="020B0604020202020204" pitchFamily="34" charset="0"/>
                <a:cs typeface="Arial" panose="020B0604020202020204" pitchFamily="34" charset="0"/>
              </a:rPr>
              <a:t>Tool Used: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1600" b="1" dirty="0">
                <a:latin typeface="Arial" panose="020B0604020202020204" pitchFamily="34" charset="0"/>
                <a:cs typeface="Arial" panose="020B0604020202020204" pitchFamily="34" charset="0"/>
              </a:rPr>
              <a:t>IBM Cognos Analytics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 for dashboard creation and visualization.</a:t>
            </a:r>
          </a:p>
          <a:p>
            <a:r>
              <a:rPr lang="en-CA" sz="1600" b="1" dirty="0">
                <a:latin typeface="Arial" panose="020B0604020202020204" pitchFamily="34" charset="0"/>
                <a:cs typeface="Arial" panose="020B0604020202020204" pitchFamily="34" charset="0"/>
              </a:rPr>
              <a:t>Steps Taken:</a:t>
            </a:r>
            <a:endParaRPr lang="en-CA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b="1" dirty="0">
                <a:latin typeface="Arial" panose="020B0604020202020204" pitchFamily="34" charset="0"/>
                <a:cs typeface="Arial" panose="020B0604020202020204" pitchFamily="34" charset="0"/>
              </a:rPr>
              <a:t>Data Cleaning &amp; Transformation:</a:t>
            </a:r>
            <a:endParaRPr lang="en-CA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Loaded the dataset in </a:t>
            </a:r>
            <a:r>
              <a:rPr lang="en-CA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n-CA" sz="1600" b="1" dirty="0">
                <a:latin typeface="Arial" panose="020B0604020202020204" pitchFamily="34" charset="0"/>
                <a:cs typeface="Arial" panose="020B0604020202020204" pitchFamily="34" charset="0"/>
              </a:rPr>
              <a:t> Notebook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 using </a:t>
            </a:r>
            <a:r>
              <a:rPr lang="en-CA" sz="1600" b="1" dirty="0">
                <a:latin typeface="Arial" panose="020B0604020202020204" pitchFamily="34" charset="0"/>
                <a:cs typeface="Arial" panose="020B0604020202020204" pitchFamily="34" charset="0"/>
              </a:rPr>
              <a:t>pandas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Removed null values and handled missing data.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Standardized column names and values for consistency.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b="1" dirty="0">
                <a:latin typeface="Arial" panose="020B0604020202020204" pitchFamily="34" charset="0"/>
                <a:cs typeface="Arial" panose="020B0604020202020204" pitchFamily="34" charset="0"/>
              </a:rPr>
              <a:t>Subset Creation:</a:t>
            </a:r>
            <a:endParaRPr lang="en-CA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Created sub-datasets for key metrics such as </a:t>
            </a:r>
            <a:r>
              <a:rPr lang="en-CA" sz="1600" dirty="0" err="1">
                <a:latin typeface="Arial" panose="020B0604020202020204" pitchFamily="34" charset="0"/>
                <a:cs typeface="Arial" panose="020B0604020202020204" pitchFamily="34" charset="0"/>
              </a:rPr>
              <a:t>LanguageHaveWorkedWith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CA" sz="1600" dirty="0" err="1">
                <a:latin typeface="Arial" panose="020B0604020202020204" pitchFamily="34" charset="0"/>
                <a:cs typeface="Arial" panose="020B0604020202020204" pitchFamily="34" charset="0"/>
              </a:rPr>
              <a:t>PlatformHaveWorkedWith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CA" sz="1600" dirty="0" err="1">
                <a:latin typeface="Arial" panose="020B0604020202020204" pitchFamily="34" charset="0"/>
                <a:cs typeface="Arial" panose="020B0604020202020204" pitchFamily="34" charset="0"/>
              </a:rPr>
              <a:t>DatabaseHaveWorkedWith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Aggregated and summarized data where necessary (e.g., counts, median compensation).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b="1" dirty="0">
                <a:latin typeface="Arial" panose="020B0604020202020204" pitchFamily="34" charset="0"/>
                <a:cs typeface="Arial" panose="020B0604020202020204" pitchFamily="34" charset="0"/>
              </a:rPr>
              <a:t>Upload &amp; Visualization:</a:t>
            </a:r>
            <a:endParaRPr lang="en-CA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Uploaded cleaned datasets to </a:t>
            </a:r>
            <a:r>
              <a:rPr lang="en-CA" sz="1600" b="1" dirty="0">
                <a:latin typeface="Arial" panose="020B0604020202020204" pitchFamily="34" charset="0"/>
                <a:cs typeface="Arial" panose="020B0604020202020204" pitchFamily="34" charset="0"/>
              </a:rPr>
              <a:t>IBM Cognos Analytics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Built interactive dashboards including </a:t>
            </a:r>
            <a:r>
              <a:rPr lang="en-CA" sz="1600" b="1" dirty="0">
                <a:latin typeface="Arial" panose="020B0604020202020204" pitchFamily="34" charset="0"/>
                <a:cs typeface="Arial" panose="020B0604020202020204" pitchFamily="34" charset="0"/>
              </a:rPr>
              <a:t>pie charts, bar charts, stacked charts, word clouds, and line charts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Applied filters, Top N selections, and formatting to highlight insights effectively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PROGRAMMING LANGUAGE TRENDS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FAC5CF-1B58-ABB4-D63B-1D931D572459}"/>
              </a:ext>
            </a:extLst>
          </p:cNvPr>
          <p:cNvSpPr txBox="1">
            <a:spLocks/>
          </p:cNvSpPr>
          <p:nvPr/>
        </p:nvSpPr>
        <p:spPr>
          <a:xfrm>
            <a:off x="838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BAA9DB0-9EAC-9B25-C7F3-3CE83758128E}"/>
              </a:ext>
            </a:extLst>
          </p:cNvPr>
          <p:cNvSpPr txBox="1">
            <a:spLocks/>
          </p:cNvSpPr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2D1E61-CFCE-E43C-5DDC-A4D1EF7B9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697" y="1690688"/>
            <a:ext cx="9760452" cy="375939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1055" y="1582864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🔍 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Findings</a:t>
            </a:r>
            <a:endParaRPr lang="en-US" sz="1800" dirty="0"/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JavaScript is the most wanted and used language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HTML/CSS and SQL are still in high demand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SQL ranks third in popularity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Java is dropping in developer preference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Python is rising fast, now tied for third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2427" y="1582864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Implications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Learning JavaScript is a smart career move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Full-stack skills (front-end + back-end) are more valuable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Python’s rise shows growing interest in data science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Next Year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E86EFD-B801-5996-879A-7A13CF75507C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288C39-3E30-44CF-06C3-D46763CC8E0C}"/>
              </a:ext>
            </a:extLst>
          </p:cNvPr>
          <p:cNvSpPr txBox="1">
            <a:spLocks/>
          </p:cNvSpPr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pic>
        <p:nvPicPr>
          <p:cNvPr id="7" name="Picture 6" descr="A graph of a graph">
            <a:extLst>
              <a:ext uri="{FF2B5EF4-FFF2-40B4-BE49-F238E27FC236}">
                <a16:creationId xmlns:a16="http://schemas.microsoft.com/office/drawing/2014/main" id="{ABF26BD6-C9CA-8A16-CAD1-42FD930B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84" y="2506661"/>
            <a:ext cx="4248150" cy="2021840"/>
          </a:xfrm>
          <a:prstGeom prst="rect">
            <a:avLst/>
          </a:prstGeom>
        </p:spPr>
      </p:pic>
      <p:pic>
        <p:nvPicPr>
          <p:cNvPr id="8" name="Picture 7" descr="A graph of purple squares&#10;&#10;AI-generated content may be incorrect.">
            <a:extLst>
              <a:ext uri="{FF2B5EF4-FFF2-40B4-BE49-F238E27FC236}">
                <a16:creationId xmlns:a16="http://schemas.microsoft.com/office/drawing/2014/main" id="{B3D9D5B6-9696-C9F2-2054-83C0AFFDE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694" y="2506661"/>
            <a:ext cx="4410075" cy="20764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" y="365125"/>
            <a:ext cx="12094029" cy="1325563"/>
          </a:xfrm>
        </p:spPr>
        <p:txBody>
          <a:bodyPr/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6711" y="1690688"/>
            <a:ext cx="5181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1800" dirty="0">
                <a:latin typeface="Arial" panose="020B0604020202020204" pitchFamily="34" charset="0"/>
                <a:cs typeface="Arial" panose="020B0604020202020204" pitchFamily="34" charset="0"/>
              </a:rPr>
              <a:t>🔍</a:t>
            </a:r>
            <a:r>
              <a:rPr lang="en-CA" sz="1800" b="1" dirty="0">
                <a:latin typeface="Arial" panose="020B0604020202020204" pitchFamily="34" charset="0"/>
                <a:cs typeface="Arial" panose="020B0604020202020204" pitchFamily="34" charset="0"/>
              </a:rPr>
              <a:t> Findings</a:t>
            </a:r>
          </a:p>
          <a:p>
            <a:r>
              <a:rPr lang="en-CA" sz="1800" dirty="0">
                <a:latin typeface="Arial" panose="020B0604020202020204" pitchFamily="34" charset="0"/>
                <a:cs typeface="Arial" panose="020B0604020202020204" pitchFamily="34" charset="0"/>
              </a:rPr>
              <a:t>PostgreSQL is the most used and most wanted database.</a:t>
            </a:r>
          </a:p>
          <a:p>
            <a:r>
              <a:rPr lang="en-CA" sz="1800" dirty="0">
                <a:latin typeface="Arial" panose="020B0604020202020204" pitchFamily="34" charset="0"/>
                <a:cs typeface="Arial" panose="020B0604020202020204" pitchFamily="34" charset="0"/>
              </a:rPr>
              <a:t>Relational databases like PostgreSQL, MySQL, and SQL Server are still dominant.</a:t>
            </a:r>
          </a:p>
          <a:p>
            <a:r>
              <a:rPr lang="en-CA" sz="1800" dirty="0">
                <a:latin typeface="Arial" panose="020B0604020202020204" pitchFamily="34" charset="0"/>
                <a:cs typeface="Arial" panose="020B0604020202020204" pitchFamily="34" charset="0"/>
              </a:rPr>
              <a:t>NoSQL and cloud-native databases (e.g., Redis, MongoDB, </a:t>
            </a:r>
            <a:r>
              <a:rPr lang="en-CA" sz="1800" dirty="0" err="1">
                <a:latin typeface="Arial" panose="020B0604020202020204" pitchFamily="34" charset="0"/>
                <a:cs typeface="Arial" panose="020B0604020202020204" pitchFamily="34" charset="0"/>
              </a:rPr>
              <a:t>Supabase</a:t>
            </a:r>
            <a:r>
              <a:rPr lang="en-CA" sz="1800" dirty="0">
                <a:latin typeface="Arial" panose="020B0604020202020204" pitchFamily="34" charset="0"/>
                <a:cs typeface="Arial" panose="020B0604020202020204" pitchFamily="34" charset="0"/>
              </a:rPr>
              <a:t>) are gaining interest.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0292" y="1690688"/>
            <a:ext cx="5181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1800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Implications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Learning PostgreSQL is a smart move for developers and teams.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Traditional and modern databases will likely coexist.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Teams may need to support multiple databases for different tasks (e.g., caching, search, analytics).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Let me know if you'd like this styled for a slide or report!</a:t>
            </a: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3142210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01237C-FBDF-A7EA-4FE6-D3DE2FCAE3F1}"/>
              </a:ext>
            </a:extLst>
          </p:cNvPr>
          <p:cNvSpPr txBox="1"/>
          <p:nvPr/>
        </p:nvSpPr>
        <p:spPr>
          <a:xfrm>
            <a:off x="4493102" y="2044995"/>
            <a:ext cx="103942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Dashboard 1: Current Technology Usage</a:t>
            </a:r>
          </a:p>
          <a:p>
            <a:endParaRPr lang="en-CA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A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Dashboard 2: Future Technology Trend</a:t>
            </a:r>
          </a:p>
          <a:p>
            <a:endParaRPr lang="en-CA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A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Dashboard 3: Demographics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Current Technology Usage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8C190BC-6CC9-5CF5-E39D-C95D9C6829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42574" y="1690688"/>
            <a:ext cx="8516938" cy="43513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439" y="-22323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CA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Future Technology Usage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0BF9-AB8D-4916-3BC9-E2E92E087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Screenshot of dashboard tab 2 goes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E5B04D-5D00-F779-6524-3D08DE66F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79" y="839310"/>
            <a:ext cx="10113368" cy="480172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CA" sz="2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Demographics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1A98-8DF3-E66E-19C4-7D7642551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F2D919-7A61-9AB7-4A98-0B4F63615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689" y="1690688"/>
            <a:ext cx="7353678" cy="45531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253331" y="1825625"/>
            <a:ext cx="4351338" cy="4351338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432290"/>
            <a:ext cx="5181600" cy="47446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Findings</a:t>
            </a:r>
          </a:p>
          <a:p>
            <a:pPr marL="0" indent="0">
              <a:buNone/>
            </a:pPr>
            <a:endParaRPr lang="en-CA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JavaScript, SQL, and HTML/CSS are the most used languages.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 and MySQL are top choices for databases.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is the leading cloud platform among developers.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 and Node.js are the most preferred frameworks.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developers are aged 18–34 and hold a bachelor’s degree. 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586" y="1432290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Implications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Focus hiring on JavaScript skills, especially React and Node.js.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Prioritize training in AWS and PostgreSQL for cloud readiness.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Invest in learning programs for early-career professionals.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Expect tech stack stability—current tools match future preferences.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Use education trends to shape curriculum and certifications.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Let me know if you'd like this styled for a slide deck or report summary!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062203" y="1464658"/>
            <a:ext cx="7291598" cy="4712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developer community heavily relies on established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technologies such as JavaScript, SQL, and AWS, indicating a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stable industry core.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There is strong alignment between current usage and future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preferences, especially in programming languages, databases,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and platforms.</a:t>
            </a:r>
          </a:p>
          <a:p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JavaScript ecosystems (e.g., React, Node.js, Next.js) continue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 dominate full-stack development choices.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PostgreSQL and Redis show strong interest, hinting at a trend toward scalable and developer-friendly databases.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Demographic trends reveal a young, highly educated workforce primarily from a few key countries, influencing </a:t>
            </a: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global tech direction.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Organizations should align hiring, training, and infrastructure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decisions with these trends to stay competitive and future-ready</a:t>
            </a:r>
            <a:r>
              <a:rPr lang="en-US" dirty="0"/>
              <a:t>.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40FF55-AE57-CB43-454D-CEFBE080CE8E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8E550E5-7A15-A106-D083-8C1433A79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JOB POSTINGS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914400" y="2191385"/>
            <a:ext cx="10489276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1700AD-6622-1CE6-C1AB-18AF02D13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966" y="1708614"/>
            <a:ext cx="8122067" cy="41912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POPULAR LANGUAGES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1AABA-34AF-B1F5-3C7F-11AEB9E03637}"/>
              </a:ext>
            </a:extLst>
          </p:cNvPr>
          <p:cNvSpPr txBox="1">
            <a:spLocks/>
          </p:cNvSpPr>
          <p:nvPr/>
        </p:nvSpPr>
        <p:spPr>
          <a:xfrm>
            <a:off x="878305" y="2191385"/>
            <a:ext cx="10525371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A99A8-4E52-689C-0F77-1A6C93094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457" y="1647877"/>
            <a:ext cx="6958466" cy="30282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DA07C5-A406-4A0D-B3E6-3856C94AC7F3}">
  <ds:schemaRefs>
    <ds:schemaRef ds:uri="http://purl.org/dc/terms/"/>
    <ds:schemaRef ds:uri="http://www.w3.org/XML/1998/namespace"/>
    <ds:schemaRef ds:uri="http://purl.org/dc/elements/1.1/"/>
    <ds:schemaRef ds:uri="155be751-a274-42e8-93fb-f39d3b9bccc8"/>
    <ds:schemaRef ds:uri="http://schemas.microsoft.com/office/2006/documentManagement/types"/>
    <ds:schemaRef ds:uri="f80a141d-92ca-4d3d-9308-f7e7b1d44ce8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PPT Temp Jan 2023</Template>
  <TotalTime>93</TotalTime>
  <Words>818</Words>
  <Application>Microsoft Office PowerPoint</Application>
  <PresentationFormat>Widescreen</PresentationFormat>
  <Paragraphs>126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Helv</vt:lpstr>
      <vt:lpstr>IBM Plex Mono</vt:lpstr>
      <vt:lpstr>IBM Plex Sans</vt:lpstr>
      <vt:lpstr>IBM Plex Sans SemiBold</vt:lpstr>
      <vt:lpstr>SLIDE_TEMPLATE_skill_network</vt:lpstr>
      <vt:lpstr>The Pulse of Innovation:  Current and Future Technology Trends</vt:lpstr>
      <vt:lpstr>PowerPoint Presentation</vt:lpstr>
      <vt:lpstr>EXECUTIVE SUMMARY</vt:lpstr>
      <vt:lpstr>INTRODUCTION</vt:lpstr>
      <vt:lpstr>METHODOLOGY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Current Technology Usage</vt:lpstr>
      <vt:lpstr>Future Technology Usage</vt:lpstr>
      <vt:lpstr>Demographics</vt:lpstr>
      <vt:lpstr>DISCUSSION</vt:lpstr>
      <vt:lpstr>OVERALL FINDINGS &amp; IMPLICATIONS</vt:lpstr>
      <vt:lpstr>CONCLUSION</vt:lpstr>
      <vt:lpstr>APPENDIX</vt:lpstr>
      <vt:lpstr> JOB POSTINGS</vt:lpstr>
      <vt:lpstr>POPULAR LANGUAGES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Prakash Bajjally</cp:lastModifiedBy>
  <cp:revision>5</cp:revision>
  <dcterms:created xsi:type="dcterms:W3CDTF">2024-10-30T05:40:03Z</dcterms:created>
  <dcterms:modified xsi:type="dcterms:W3CDTF">2025-09-12T11:21:43Z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